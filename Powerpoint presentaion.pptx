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Montserrat Bold"/>
      <p:regular r:id="rId17"/>
    </p:embeddedFont>
    <p:embeddedFont>
      <p:font typeface="Source Sans 3"/>
      <p:regular r:id="rId18"/>
    </p:embeddedFont>
    <p:embeddedFont>
      <p:font typeface="Source Sans 3 Bold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slideLayout" Target="../slideLayouts/slideLayout10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image" Target="../media/image-10-8.png"/><Relationship Id="rId9" Type="http://schemas.openxmlformats.org/officeDocument/2006/relationships/image" Target="../media/image-10-9.svg"/><Relationship Id="rId10" Type="http://schemas.openxmlformats.org/officeDocument/2006/relationships/slideLayout" Target="../slideLayouts/slideLayout11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93" y="115639"/>
            <a:ext cx="3274814" cy="49122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68874" y="1786384"/>
            <a:ext cx="4635252" cy="876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Customer Shopping Behavior Analysis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3968874" y="2894335"/>
            <a:ext cx="4635252" cy="462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Uncovering insights from </a:t>
            </a:r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3,900 transactions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across product categories — spending patterns, customer segments, and strategic opportunities.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9272" y="395288"/>
            <a:ext cx="3694658" cy="3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Dataset at a Glance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89272" y="1115690"/>
            <a:ext cx="4003551" cy="4613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3,900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696715" y="1741884"/>
            <a:ext cx="1588666" cy="198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Transactions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89272" y="2016398"/>
            <a:ext cx="4003551" cy="199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9000"/>
              </a:lnSpc>
              <a:buNone/>
            </a:pPr>
            <a:r>
              <a:rPr lang="en-US" sz="11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Rows in the dataset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651177" y="1115690"/>
            <a:ext cx="4003551" cy="4613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18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858619" y="1741884"/>
            <a:ext cx="1588666" cy="198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Columns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651177" y="2016398"/>
            <a:ext cx="4003551" cy="199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9000"/>
              </a:lnSpc>
              <a:buNone/>
            </a:pPr>
            <a:r>
              <a:rPr lang="en-US" sz="11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Features tracked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9272" y="2539529"/>
            <a:ext cx="4003551" cy="4613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37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696715" y="3165723"/>
            <a:ext cx="1588666" cy="198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Missing Values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89272" y="3440237"/>
            <a:ext cx="4003551" cy="199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9000"/>
              </a:lnSpc>
              <a:buNone/>
            </a:pPr>
            <a:r>
              <a:rPr lang="en-US" sz="11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 Review Rating only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51177" y="2539529"/>
            <a:ext cx="4003551" cy="4613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$59.76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858619" y="3165723"/>
            <a:ext cx="1588666" cy="198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Avg Purchase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651177" y="3440237"/>
            <a:ext cx="4003551" cy="199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9000"/>
              </a:lnSpc>
              <a:buNone/>
            </a:pPr>
            <a:r>
              <a:rPr lang="en-US" sz="11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Mean transaction value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9272" y="3909268"/>
            <a:ext cx="2533873" cy="198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Customer Demographics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89272" y="4234458"/>
            <a:ext cx="4369371" cy="199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Age, Gender, Location, Subscription Status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47320" y="3909268"/>
            <a:ext cx="2183532" cy="198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Purchase &amp; Behavior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747320" y="4234458"/>
            <a:ext cx="3912171" cy="399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Item, Category, Amount, Season, Discount, Frequency, Review Rating, Shipping Type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774502"/>
            <a:ext cx="5468243" cy="438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 Preparation in Python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874" y="1617687"/>
            <a:ext cx="2577778" cy="2577778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56620" y="1805285"/>
            <a:ext cx="231353" cy="23135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000128" y="1800523"/>
            <a:ext cx="1840260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Clean &amp; Standardize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4000128" y="2173932"/>
            <a:ext cx="1957239" cy="925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Imputed missing Review Ratings using category medians; renamed columns to snake_case.</a:t>
            </a:r>
            <a:endParaRPr lang="en-US" sz="12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07993" y="1805285"/>
            <a:ext cx="231353" cy="23135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651501" y="1800523"/>
            <a:ext cx="1886173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Feature Engineering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6651501" y="2173932"/>
            <a:ext cx="1957313" cy="694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Created </a:t>
            </a:r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age_group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bins and </a:t>
            </a:r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purchase_frequency_days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columns.</a:t>
            </a:r>
            <a:endParaRPr lang="en-US" sz="12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56620" y="3412629"/>
            <a:ext cx="231353" cy="23135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000128" y="3407866"/>
            <a:ext cx="1941537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Database Integration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4000128" y="3781276"/>
            <a:ext cx="4608686" cy="23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Loaded cleaned DataFrame into PostgreSQL for SQL analysis.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2093" y="115639"/>
            <a:ext cx="3274814" cy="49122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9874" y="1067246"/>
            <a:ext cx="4057204" cy="438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Revenue by Gender</a:t>
            </a:r>
            <a:endParaRPr lang="en-US" sz="2750" dirty="0"/>
          </a:p>
        </p:txBody>
      </p:sp>
      <p:sp>
        <p:nvSpPr>
          <p:cNvPr id="5" name="Shape 2"/>
          <p:cNvSpPr/>
          <p:nvPr/>
        </p:nvSpPr>
        <p:spPr>
          <a:xfrm>
            <a:off x="539874" y="1736899"/>
            <a:ext cx="4635252" cy="1703040"/>
          </a:xfrm>
          <a:prstGeom prst="roundRect">
            <a:avLst>
              <a:gd name="adj" fmla="val 1359"/>
            </a:avLst>
          </a:prstGeom>
          <a:solidFill>
            <a:srgbClr val="F2EEEE"/>
          </a:solidFill>
          <a:ln/>
        </p:spPr>
      </p:sp>
      <p:sp>
        <p:nvSpPr>
          <p:cNvPr id="6" name="Shape 3"/>
          <p:cNvSpPr/>
          <p:nvPr/>
        </p:nvSpPr>
        <p:spPr>
          <a:xfrm>
            <a:off x="539874" y="1736899"/>
            <a:ext cx="4635252" cy="851520"/>
          </a:xfrm>
          <a:prstGeom prst="roundRect">
            <a:avLst>
              <a:gd name="adj" fmla="val 2718"/>
            </a:avLst>
          </a:prstGeom>
          <a:solidFill>
            <a:srgbClr val="F2EEEE"/>
          </a:solidFill>
          <a:ln/>
        </p:spPr>
      </p:sp>
      <p:sp>
        <p:nvSpPr>
          <p:cNvPr id="7" name="Text 4"/>
          <p:cNvSpPr/>
          <p:nvPr/>
        </p:nvSpPr>
        <p:spPr>
          <a:xfrm>
            <a:off x="694134" y="1891159"/>
            <a:ext cx="1753046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Male Customers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94134" y="2202805"/>
            <a:ext cx="4326731" cy="23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$157,890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total revenue — more than double female contribution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39874" y="2588419"/>
            <a:ext cx="4635252" cy="851520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0" name="Shape 7"/>
          <p:cNvSpPr/>
          <p:nvPr/>
        </p:nvSpPr>
        <p:spPr>
          <a:xfrm>
            <a:off x="539874" y="2588419"/>
            <a:ext cx="4635252" cy="19050"/>
          </a:xfrm>
          <a:prstGeom prst="roundRect">
            <a:avLst>
              <a:gd name="adj" fmla="val 121472"/>
            </a:avLst>
          </a:prstGeom>
          <a:solidFill>
            <a:srgbClr val="D8D4D4"/>
          </a:solidFill>
          <a:ln/>
        </p:spPr>
      </p:sp>
      <p:sp>
        <p:nvSpPr>
          <p:cNvPr id="11" name="Text 8"/>
          <p:cNvSpPr/>
          <p:nvPr/>
        </p:nvSpPr>
        <p:spPr>
          <a:xfrm>
            <a:off x="694134" y="2742679"/>
            <a:ext cx="1753046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Female Customers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94134" y="3054325"/>
            <a:ext cx="4326731" cy="23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$75,191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total revenue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39874" y="3613472"/>
            <a:ext cx="4635252" cy="462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Male customers account for the majority of total revenue, representing a significant opportunity for targeted engagement strategies.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1465" y="446931"/>
            <a:ext cx="5532016" cy="43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Product &amp; Discount Insights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1465" y="1251942"/>
            <a:ext cx="2721843" cy="215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Top 5 Products by Rating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31465" y="1635696"/>
            <a:ext cx="3855318" cy="2498675"/>
          </a:xfrm>
          <a:prstGeom prst="roundRect">
            <a:avLst>
              <a:gd name="adj" fmla="val 912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6228" y="1640458"/>
            <a:ext cx="3845793" cy="41485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88107" y="1734889"/>
            <a:ext cx="2458641" cy="225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5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Product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997919" y="1734889"/>
            <a:ext cx="1689497" cy="225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5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Avg Rating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36228" y="2055316"/>
            <a:ext cx="3845793" cy="41485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88107" y="2149748"/>
            <a:ext cx="2458641" cy="225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Gloves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997919" y="2149748"/>
            <a:ext cx="1689497" cy="225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3.86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36228" y="2470175"/>
            <a:ext cx="3845793" cy="41485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88107" y="2564606"/>
            <a:ext cx="2458641" cy="225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Sandals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997919" y="2564606"/>
            <a:ext cx="1689497" cy="225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3.84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36228" y="2885033"/>
            <a:ext cx="3845793" cy="41485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88107" y="2979465"/>
            <a:ext cx="2458641" cy="225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Boots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997919" y="2979465"/>
            <a:ext cx="1689497" cy="225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3.82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36228" y="3299892"/>
            <a:ext cx="3845793" cy="41485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88107" y="3394323"/>
            <a:ext cx="2458641" cy="225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Hat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997919" y="3394323"/>
            <a:ext cx="1689497" cy="225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3.80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36228" y="3714750"/>
            <a:ext cx="3845793" cy="41485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88107" y="3809181"/>
            <a:ext cx="2458641" cy="225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Skirt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997919" y="3809181"/>
            <a:ext cx="1689497" cy="225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3.78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761979" y="1251942"/>
            <a:ext cx="2579563" cy="215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Highest Discount Rates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761979" y="1635696"/>
            <a:ext cx="3855318" cy="2498675"/>
          </a:xfrm>
          <a:prstGeom prst="roundRect">
            <a:avLst>
              <a:gd name="adj" fmla="val 912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66742" y="1640458"/>
            <a:ext cx="3845793" cy="41485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918621" y="1734889"/>
            <a:ext cx="2458641" cy="225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5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Product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228433" y="1734889"/>
            <a:ext cx="1689497" cy="225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5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Discount %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766742" y="2055316"/>
            <a:ext cx="3845793" cy="41485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918621" y="2149748"/>
            <a:ext cx="2458641" cy="225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Hat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228433" y="2149748"/>
            <a:ext cx="1689497" cy="225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50.00%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766742" y="2470175"/>
            <a:ext cx="3845793" cy="41485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918621" y="2564606"/>
            <a:ext cx="2458641" cy="225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Sneakers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228433" y="2564606"/>
            <a:ext cx="1689497" cy="225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49.66%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766742" y="2885033"/>
            <a:ext cx="3845793" cy="41485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4918621" y="2979465"/>
            <a:ext cx="2458641" cy="225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Coat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7228433" y="2979465"/>
            <a:ext cx="1689497" cy="225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49.07%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766742" y="3299892"/>
            <a:ext cx="3845793" cy="41485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4918621" y="3394323"/>
            <a:ext cx="2458641" cy="225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Sweater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7228433" y="3394323"/>
            <a:ext cx="1689497" cy="225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48.17%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766742" y="3714750"/>
            <a:ext cx="3845793" cy="41485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4918621" y="3809181"/>
            <a:ext cx="2458641" cy="225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Pants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7228433" y="3809181"/>
            <a:ext cx="1689497" cy="225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47.37%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531465" y="4470574"/>
            <a:ext cx="8538270" cy="225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839 customers used discounts yet spent above average — discount users are high-value buyers.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679921"/>
            <a:ext cx="6626796" cy="438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Subscription &amp; Shipping Behavior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874" y="1523107"/>
            <a:ext cx="3843933" cy="27668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64956" y="1503834"/>
            <a:ext cx="3396258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Subscribers vs. Non-Subscribers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64956" y="1877244"/>
            <a:ext cx="3843933" cy="694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Non-subscribers drive </a:t>
            </a:r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73%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of customers and </a:t>
            </a:r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$170K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in revenue. Subscribers (27%) average $59.49 spend vs. $59.87 for non-subscribers — nearly identical.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764956" y="2725564"/>
            <a:ext cx="2476426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Shipping Type Impact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764956" y="3098974"/>
            <a:ext cx="3843933" cy="462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Express shipping averages </a:t>
            </a:r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$60.48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vs. </a:t>
            </a:r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$58.46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for Standard — a modest but consistent premium.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1220688"/>
            <a:ext cx="4965129" cy="438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Customer Segmentation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539874" y="1967508"/>
            <a:ext cx="2585219" cy="1318989"/>
          </a:xfrm>
          <a:prstGeom prst="roundRect">
            <a:avLst>
              <a:gd name="adj" fmla="val 1754"/>
            </a:avLst>
          </a:prstGeom>
          <a:solidFill>
            <a:srgbClr val="F2EEEE"/>
          </a:solidFill>
          <a:ln/>
        </p:spPr>
      </p:sp>
      <p:sp>
        <p:nvSpPr>
          <p:cNvPr id="4" name="Text 2"/>
          <p:cNvSpPr/>
          <p:nvPr/>
        </p:nvSpPr>
        <p:spPr>
          <a:xfrm>
            <a:off x="694134" y="2121768"/>
            <a:ext cx="1753046" cy="223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🏆</a:t>
            </a:r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Loyal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94134" y="2438177"/>
            <a:ext cx="2276698" cy="694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3,116 customers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the dominant segment with strong purchase history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79353" y="1967508"/>
            <a:ext cx="2585219" cy="1318989"/>
          </a:xfrm>
          <a:prstGeom prst="roundRect">
            <a:avLst>
              <a:gd name="adj" fmla="val 1754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3433614" y="2121768"/>
            <a:ext cx="1753046" cy="223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🔄</a:t>
            </a:r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Returning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433614" y="2438177"/>
            <a:ext cx="2276698" cy="694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701 customers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potential to convert to loyal with the right incentives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18833" y="1967508"/>
            <a:ext cx="2585219" cy="1318989"/>
          </a:xfrm>
          <a:prstGeom prst="roundRect">
            <a:avLst>
              <a:gd name="adj" fmla="val 1754"/>
            </a:avLst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6173093" y="2121768"/>
            <a:ext cx="1753046" cy="223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🌱</a:t>
            </a:r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New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173093" y="2438177"/>
            <a:ext cx="2276698" cy="462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83 customers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smallest segment, key growth opportunity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9874" y="3460031"/>
            <a:ext cx="8064252" cy="462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Of customers with more than 5 purchases, </a:t>
            </a:r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958 are subscribers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vs. 2,518 non-subscribers — repeat buyers show meaningful subscription uptake.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679921"/>
            <a:ext cx="4670301" cy="438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Revenue by Age Group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874" y="1523107"/>
            <a:ext cx="3843933" cy="27668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64956" y="1503834"/>
            <a:ext cx="2210246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Key Takeaway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64956" y="1877244"/>
            <a:ext cx="3843933" cy="694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Young Adults lead revenue at </a:t>
            </a:r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$62,143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but all four age groups contribute relatively evenly — suggesting broad market appeal across demographics.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764956" y="2744837"/>
            <a:ext cx="3843933" cy="817364"/>
          </a:xfrm>
          <a:prstGeom prst="roundRect">
            <a:avLst>
              <a:gd name="adj" fmla="val 2831"/>
            </a:avLst>
          </a:prstGeom>
          <a:solidFill>
            <a:srgbClr val="B6D6FC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216" y="2964582"/>
            <a:ext cx="192807" cy="1542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66283" y="2922166"/>
            <a:ext cx="3188345" cy="462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Revenue spread is within ~$6K across all groups, indicating no single age dependency.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566365"/>
            <a:ext cx="5204966" cy="438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Top Products by Category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9874" y="1313185"/>
            <a:ext cx="3954959" cy="13524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401639" y="1419002"/>
            <a:ext cx="231353" cy="2892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713184" y="1949276"/>
            <a:ext cx="1753046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Accessories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713184" y="2260922"/>
            <a:ext cx="3608338" cy="23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Jewelry (171), Sunglasses (161), Belt (161)</a:t>
            </a:r>
            <a:endParaRPr lang="en-US" sz="1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9093" y="1313185"/>
            <a:ext cx="3955033" cy="135240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10933" y="1419002"/>
            <a:ext cx="231353" cy="2892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4822403" y="1949276"/>
            <a:ext cx="1753046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Clothing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4822403" y="2260922"/>
            <a:ext cx="3608412" cy="23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Blouse (171), Pants (171), Shirt (169)</a:t>
            </a:r>
            <a:endParaRPr lang="en-US" sz="12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9874" y="2819846"/>
            <a:ext cx="3954959" cy="135240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401639" y="2925663"/>
            <a:ext cx="231353" cy="2892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713184" y="3455938"/>
            <a:ext cx="1753046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Footwear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713184" y="3767584"/>
            <a:ext cx="3608338" cy="23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Sandals (160), Shoes (150), Sneakers (145)</a:t>
            </a:r>
            <a:endParaRPr lang="en-US" sz="12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49093" y="2819846"/>
            <a:ext cx="3955033" cy="1352401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510933" y="2925663"/>
            <a:ext cx="231353" cy="2892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1"/>
          <p:cNvSpPr/>
          <p:nvPr/>
        </p:nvSpPr>
        <p:spPr>
          <a:xfrm>
            <a:off x="4822403" y="3455938"/>
            <a:ext cx="1753046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Outerwear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4822403" y="3767584"/>
            <a:ext cx="3608412" cy="23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Jacket (163), Coat (161)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539874" y="4345781"/>
            <a:ext cx="8521452" cy="23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Clothing dominates with the highest order volumes, while Outerwear has the fewest top products listed.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9712" y="112068"/>
            <a:ext cx="3279577" cy="49193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056" y="462335"/>
            <a:ext cx="4668887" cy="849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Power BI Dashboard &amp; Recommendations</a:t>
            </a:r>
            <a:endParaRPr lang="en-US" sz="26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056" y="1528539"/>
            <a:ext cx="298847" cy="29884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02804" y="1579885"/>
            <a:ext cx="1780952" cy="212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Boost Subscriptions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1002804" y="1878955"/>
            <a:ext cx="4189140" cy="220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Promote exclusive subscriber benefits to grow the 27% base.</a:t>
            </a:r>
            <a:endParaRPr lang="en-US" sz="11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056" y="2389063"/>
            <a:ext cx="298847" cy="29884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02804" y="2440409"/>
            <a:ext cx="1698278" cy="212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Loyalty Programs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1002804" y="2739479"/>
            <a:ext cx="4189140" cy="220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Reward repeat buyers to convert Returning customers into Loyal.</a:t>
            </a:r>
            <a:endParaRPr lang="en-US" sz="11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056" y="3249588"/>
            <a:ext cx="298847" cy="298847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02804" y="3300933"/>
            <a:ext cx="2080320" cy="212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Review Discount Policy</a:t>
            </a:r>
            <a:endParaRPr lang="en-US" sz="1300" dirty="0"/>
          </a:p>
        </p:txBody>
      </p:sp>
      <p:sp>
        <p:nvSpPr>
          <p:cNvPr id="13" name="Text 7"/>
          <p:cNvSpPr/>
          <p:nvPr/>
        </p:nvSpPr>
        <p:spPr>
          <a:xfrm>
            <a:off x="1002804" y="3600004"/>
            <a:ext cx="4189140" cy="220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Balance sales lift with margin control on high-discount products.</a:t>
            </a:r>
            <a:endParaRPr lang="en-US" sz="11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3056" y="4110112"/>
            <a:ext cx="298847" cy="298847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002804" y="4161458"/>
            <a:ext cx="1761604" cy="212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Targeted Marketing</a:t>
            </a:r>
            <a:endParaRPr lang="en-US" sz="1300" dirty="0"/>
          </a:p>
        </p:txBody>
      </p:sp>
      <p:sp>
        <p:nvSpPr>
          <p:cNvPr id="16" name="Text 9"/>
          <p:cNvSpPr/>
          <p:nvPr/>
        </p:nvSpPr>
        <p:spPr>
          <a:xfrm>
            <a:off x="1002804" y="4460528"/>
            <a:ext cx="4189140" cy="220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Focus on high-revenue age groups and express-shipping users.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2026-06-05T15:39:58Z</dcterms:created>
  <dcterms:modified xsi:type="dcterms:W3CDTF">2026-06-05T15:39:58Z</dcterms:modified>
</cp:coreProperties>
</file>